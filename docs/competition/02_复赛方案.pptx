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707C"/>
                </a:solidFill>
                <a:latin typeface="微软雅黑"/>
              </a:rPr>
              <a:t>2026 长三角（芜湖）算力算法创新应用大赛 · 智能体赛道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C2430"/>
                </a:solidFill>
                <a:latin typeface="微软雅黑"/>
              </a:rPr>
              <a:t>12345 热线工单智能生成与转派辅助智能体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700" b="0">
                <a:solidFill>
                  <a:srgbClr val="0B5D56"/>
                </a:solidFill>
                <a:latin typeface="微软雅黑"/>
              </a:rPr>
              <a:t>—— 从「工单文书生成」到「派单决策与诉求治理」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94760"/>
            <a:ext cx="3840480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C2430"/>
                </a:solidFill>
                <a:latin typeface="微软雅黑"/>
              </a:rPr>
              <a:t>团队：aiwen（创客个人）　负责人：王同鹤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66707C"/>
                </a:solidFill>
                <a:latin typeface="微软雅黑"/>
              </a:rPr>
              <a:t>一句话：录音 / 文本 / 现场照片进，可派发工单与合规答复出——每一步可查、可改、可追溯，放行权永远在人。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0B5D56"/>
                </a:solidFill>
                <a:latin typeface="微软雅黑"/>
              </a:rPr>
              <a:t>实测：事项分类留一验证 100%｜主办单位推荐 94.4%（通用做法仅 5.6%）｜单案 35–70 秒（人工工序基准约 20 分钟，估算）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01　方案概览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六部分：场景理解 → 竞争判断 → 技术方案 → 数据与模型 → 测试结果 → 演示与计划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场景理解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691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四类真实痛点：整理效率低、分类靠经验、部门匹配耗时、回复质量不一致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95144"/>
            <a:ext cx="10908792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竞争判断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4144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通用做法（按类别推部门）实测命中率仅 5.6%——方向上就错了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44952"/>
            <a:ext cx="10908792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9125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技术方案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91256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五节点白盒链路 +「五把关」：受理 / 决策 / 答复 / 时限 / 合规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10908792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410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数据与模型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94106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官方样例 + 公开政策 + 公开许可图集；生成模型负责写、决策模型负责判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44568"/>
            <a:ext cx="10908792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908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测试结果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69087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六项可复现指标，全部来自真实调用，未做任何人工修饰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94376"/>
            <a:ext cx="10908792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演示与计划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44067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8 项必展示功能全覆盖；复赛平台迁移路径与在芜落地计划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02　场景理解与核心问题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12345 的痛点不在「能不能答」，而在「每一单都要人来抠细节」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·  工单整理效率低：接线员边听边记，要素靠手工整理，格式不统一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·  分类依赖经验：新人面对 12 大类与职责交叉，容易派错部门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2549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·  部门匹配耗时：派错就要退回重派，是热线最耗时的环节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9242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2430"/>
                </a:solidFill>
                <a:latin typeface="微软雅黑"/>
              </a:rPr>
              <a:t>·  回复质量不一致：口径因人而异，个别答复还会承诺过度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148072" cy="301752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10512"/>
            <a:ext cx="46908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我们的定位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1C2430"/>
                </a:solidFill>
                <a:latin typeface="微软雅黑"/>
              </a:rPr>
              <a:t>坐席的辅助副驾——不是替代人，而是替人把关：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· 把录音快速变成忠实原文的结构化工单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· 给出可解释的分类与派单建议（含依据与退回风险）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· 答复先过合规闸门，超期自动督办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0B5D56"/>
                </a:solidFill>
                <a:latin typeface="微软雅黑"/>
              </a:rPr>
              <a:t>· 机器只出建议，放行权永远在人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707C"/>
                </a:solidFill>
                <a:latin typeface="微软雅黑"/>
              </a:rPr>
              <a:t>另外两个真实业务诉求我们也做了：同类诉求短期聚集应触发「未诉先办」预警；效率提升应可量化（基层减负账本）。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03　竞争判断：通用做法错在哪（本方案最硬的一条证据）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用官方 18 条样例工单的历史实际承办单位做验证——不是我们自说自话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3572"/>
                <a:gridCol w="2383433"/>
                <a:gridCol w="2841786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派单策略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主办单位命中率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依据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通用做法：按事项类别推市直部门（多数队伍会这么做）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5.6%（1/18）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直觉推断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本方案：三层决策（专业直派 → 属地主办 → 类别兜底）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94.4%（17/18）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C2430"/>
                          </a:solidFill>
                          <a:latin typeface="微软雅黑"/>
                        </a:rPr>
                        <a:t>省级规范 + 历史实证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291840"/>
            <a:ext cx="10908792" cy="96012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C2430"/>
                </a:solidFill>
                <a:latin typeface="微软雅黑"/>
              </a:rPr>
              <a:t>官方样例实测：89%（16/18）由属地政府 / 开发区承办，仅 11% 直派市直部门——与《安徽省12345热线诉求闭环办理工作规范》「属地管理、分级负责」原则完全一致。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C2430"/>
                </a:solidFill>
                <a:latin typeface="微软雅黑"/>
              </a:rPr>
              <a:t>·  结论一：通用做法从方向上就错——把「属地主办」当成了「部门直派」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C2430"/>
                </a:solidFill>
                <a:latin typeface="微软雅黑"/>
              </a:rPr>
              <a:t>·  结论二：政务派单的正确抽象是「属地 + 部门」双维度，不是单选题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C2430"/>
                </a:solidFill>
                <a:latin typeface="微软雅黑"/>
              </a:rPr>
              <a:t>·  结论三：这条规则可复现、可审计（backend/scripts/eval_dispatch.py）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04　整体方案：五节点白盒链路 + 五把关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受理把关 → 决策把关 → 答复把关 → 时限把关 → 合规贯穿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481328"/>
            <a:ext cx="7772400" cy="44855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底座：依据链可追溯 + 白盒轨迹（每节点输入输出/耗时留痕）+ 操作审计（谁审的、谁改的可追）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05　决策把关：属地 + 部门双维派单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三层决策 + 依据链 + 退回风险，规则锚定、模型复核，分歧交人工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39"/>
                <a:gridCol w="4491855"/>
                <a:gridCol w="4675196"/>
              </a:tblGrid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决策层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触发情形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输出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① 专业直派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行业性极强的诉求（公交运营、消费维权等）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专业承办单位（如 市公安局 + 芜湖公交公司）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② 属地主办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有明确属地区划（89% 的情形）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属地区县政府 / 开发区管委会 主办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③ 类别兜底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未识别到属地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按事项类别推市直部门，并提示人工确认属地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661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5D56"/>
                </a:solidFill>
                <a:latin typeface="微软雅黑"/>
              </a:rPr>
              <a:t>每次派单都给出完整决策包（示例：烧烤店占道经营案）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主办：鸠江区政府（依据：属地管理原则 + 历史同类工单 89% 由属地承办）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协办/指导：市城市管理局（占道经营职责）、市生态环境局（油烟）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退回风险：职责交叉（主办 + 协办组合），历史上易被退回，建议派前协调并抄送属地热线主管部门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分歧处理：规则判定与模型复核不一致时，标记需人工裁断并同时展示双方结论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06　时限把关：险种定级 + 倒计时督办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依据规范「紧急事项 24 小时内反馈进展」，把建议变成可考核的时钟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46"/>
                <a:gridCol w="5408560"/>
                <a:gridCol w="4400185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等级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触发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建议时限与动作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特急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井盖缺失、电线坠落、消防通道堵塞、燃气泄漏、危房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30 分钟内电话通知承办单位 + 24 小时内反馈进展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紧急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大面积停水停电、环境污染、成片垃圾、占道经营阻碍通行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当日派件 + 24 小时内反馈进展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一般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咨询、建议、非安全类投诉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微软雅黑"/>
                        </a:rPr>
                        <a:t>规定时限内办结；复杂事项可「承诺办理」（≤9 个月）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到期时刻按工作日推进（跳过周末与法定节假日、支持调休）；节假日数据缺失时显式标注，不凭空填写日期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状态：正常 / 临期（剩余 ≤20% 或 ≤4h）/ 超期；超期自动附督办建议（规范：多次反映且办理不到位可联合督查机构专项督办）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诚实标注：一般件工作日数为建议值（待与芜湖市办理细则核对），不虚构条款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07　受理把关：多模态图片证据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市民上传现场照片 → 视觉模型判读 → 影响事项分类与急件分级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5D56"/>
                </a:solidFill>
                <a:latin typeface="微软雅黑"/>
              </a:rPr>
              <a:t>93.8%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055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隐患类型识别准确率
（16 张公开许可图集）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3572" y="160020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170992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803D"/>
                </a:solidFill>
                <a:latin typeface="微软雅黑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213055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隐患有无一致率
（不漏报、不脑补）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60020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70992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C2430"/>
                </a:solidFill>
                <a:latin typeface="微软雅黑"/>
              </a:rPr>
              <a:t>2.7–5.7s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13055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单张判读延迟
（MiniMax-M3）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0556" y="160020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0284" y="170992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5D56"/>
                </a:solidFill>
                <a:latin typeface="微软雅黑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0284" y="213055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图片证据入链成功率
（含 JSON 修复回退）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5D56"/>
                </a:solidFill>
                <a:latin typeface="微软雅黑"/>
              </a:rPr>
              <a:t>比数字更重要的一个工程结论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实测发现：模型自报的「严重程度」跨次不稳定（同批图片两次评测 73.3% vs 50.0%），而险种识别稳定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因此改为**按险种定级**：井盖缺失/电线坠落/消防通道堵塞 → 特急；垃圾堆积/占道经营/违建 → 紧急；道路破损 → 一般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验证：模型 severity 故意报「一般」，系统仍按险种正确升级为特急（8/8 通过）——不盲信模型分数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·  合规约束：只描述可见事实、不推测身份、禁输出人脸/车牌/门牌；模型不可用时降级为人工判读，链路零回归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08　答复把关：合规审查（退回重办风险）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依据规范「答复须正面回应、列明政策依据，经审核不规范将退回重办」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797"/>
                <a:gridCol w="4216843"/>
                <a:gridCol w="3575150"/>
              </a:tblGrid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审查维度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典型问题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处理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过度承诺 / 时限承诺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「保证解决」「承诺三天内办结」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命中即提示改为按程序表述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绝对化用语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「彻底杜绝」「100% 解决」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建议改为持续加强管理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隐私泄露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答复中出现手机号、身份证号、精确门牌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高风险，须删除（谁管理、谁负责）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推诿表述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「不归我们管」「你去找」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改为已转交 ×× 部门办理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未正面回应 / 隐患缺安全提示 / 规范要素 / 引用不可溯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只讲流程、缺必备提示、引用虚构法规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逐条给出修改建议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70916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1888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803D"/>
                </a:solidFill>
                <a:latin typeface="微软雅黑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3951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违规答复召回（10/10）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3572" y="470916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481888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803D"/>
                </a:solidFill>
                <a:latin typeface="微软雅黑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523951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合规答复误报（0/10）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470916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481888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C2430"/>
                </a:solidFill>
                <a:latin typeface="微软雅黑"/>
              </a:rPr>
              <a:t>9 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523951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确定性规则（可解释、可审计）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0556" y="4709160"/>
            <a:ext cx="2528316" cy="932688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0284" y="4818888"/>
            <a:ext cx="23088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B5D56"/>
                </a:solidFill>
                <a:latin typeface="微软雅黑"/>
              </a:rPr>
              <a:t>可叠加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0284" y="5239512"/>
            <a:ext cx="23088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07C"/>
                </a:solidFill>
                <a:latin typeface="微软雅黑"/>
              </a:rPr>
              <a:t>LLM 语义复核（只补充发现，不改判定）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09　可信性设计：决策模型 + 交叉复核 + 白盒轨迹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政务场景不落地的根因是「不敢信」——我们把不确定性显式交给人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5D56"/>
                </a:solidFill>
                <a:latin typeface="微软雅黑"/>
              </a:rPr>
              <a:t>System One 决策模型（开源 + 闭源双通道实测）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286000"/>
            <a:ext cx="3108960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laya（Apache 2.0，322M）本地 CPU：647MB / $0 / ~1s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JEV（TypeSafe，OpenRouter alpha）：603ms / $0.00011 每案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同集 18 条：JEV 分类 100%，laya 22.2%（随机 8.3%）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门控 auto/human：JEV 16/0 vs laya 1/15（后者即人工队列）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归因实验排除 CPU：选项改英文后 16.7%→44.4%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定位：判断以规则为主，决策模型补语义 + 门控交人工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5D56"/>
                </a:solidFill>
                <a:latin typeface="微软雅黑"/>
              </a:rPr>
              <a:t>双模型交叉复核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286000"/>
            <a:ext cx="3108960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另一模型独立判断同一问题，避免单模型自证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一致 → 记录复核一致；分歧 → 标记需人工判断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实测：主判与局域网复核模型一致 2/2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代价如实记录：复核使单案 30s → 110–137s，默认关闭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4592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5D56"/>
                </a:solidFill>
                <a:latin typeface="微软雅黑"/>
              </a:rPr>
              <a:t>白盒轨迹与审计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2286000"/>
            <a:ext cx="3108960" cy="9144"/>
          </a:xfrm>
          <a:prstGeom prst="rect">
            <a:avLst/>
          </a:prstGeom>
          <a:solidFill>
            <a:srgbClr val="E4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395728"/>
            <a:ext cx="3154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每节点输入/输出/耗时入库，可回放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流转日志记录谁、何时、从哪到哪、依据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六类角色 RBAC：坐席/派单员/审核员/部门/管理员/监督员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微软雅黑"/>
              </a:rPr>
              <a:t>· 操作审计只插入不可改，满足「谁审的、谁改的」可追责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10　工单流转与知识运营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从「办单」到「治事」：状态机看板 + 口径层 wiki + 权限审计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421"/>
                <a:gridCol w="6691948"/>
                <a:gridCol w="2108421"/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工单流转状态机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已受理→已分类→已派单→签收→办理→回执→审核→归档（含退回、承诺办理旁路）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15 条迁移 + 双层守卫，19/19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流转看板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按状态分列、就地流转、临期/超期角标、超期督办提示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界面 19/19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知识词条（wiki）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口径层：办理经验/答话口径/案例复盘，草稿→发布、逐版可回看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15/15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智能体回写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案件定稿后一键沉淀为词条草稿（派单结论 + 答复口径 + 政策依据）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已实现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RBAC 与审计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6 角色权限矩阵 + 关键操作守卫 + 操作审计（启用态 12/12）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渐进启用，默认关闭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依据层（政策库 / 部门职责 / 12 类目录，决定判断）与口径层（wiki，统一表达）分工明确，互不污染生成。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11　数据、模型与第三方工具使用说明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合规硬要求：来源可溯、许可清晰、脱敏到位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398"/>
                <a:gridCol w="5041878"/>
                <a:gridCol w="4308514"/>
              </a:tblGrid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具体内容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来源与许可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官方数据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18 条样例工单（含历史实际承办单位）+ 配套录音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赛题官方数据集；仅本地使用、未再分发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公开政策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8 部法规全文 + 芜湖公开政策文件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政府公开渠道，名称与来源逐条登记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评测图集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16 张城市隐患照片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Wikimedia Commons；逐张登记作者与许可证（CC/公有领域）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生成模型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DeepSeek（主判/写作）、局域网 Qwen2.5-72B（复核）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API 调用；复核模型与主判异源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决策模型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Jev / TypeSafe System One（已接入，待 Key 启用）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官方 OpenAPI 契约；失败自动回退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视觉模型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MiniMax-M3（图片判读）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OpenAI 兼容接口；仅传图片，不传个人信息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向量与检索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bge-small-zh-v1.5 + Chroma；BM25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C2430"/>
                          </a:solidFill>
                          <a:latin typeface="微软雅黑"/>
                        </a:rPr>
                        <a:t>BAAI 公开模型；本地推理，无外传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6707C"/>
                </a:solidFill>
                <a:latin typeface="微软雅黑"/>
              </a:rPr>
              <a:t>脱敏与隐私：官方样例已脱敏（「某先生」式称呼、无完整联系方式）；评测图集剔除含人脸/车牌/门牌的照片；密钥仅存本地 .env，不入仓库与提交包。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12　测试样本与测试结果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六项指标全部来自真实调用与可复现脚本，未做任何人工修饰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115"/>
                <a:gridCol w="5225219"/>
                <a:gridCol w="2933456"/>
              </a:tblGrid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评测项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 marL="64008" marR="64008" marT="27432" marB="27432" anchor="t">
                    <a:solidFill>
                      <a:srgbClr val="0F766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事项分类准确率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官方 18 条留一交叉验证（防答案泄漏）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100%（基线 72.2%）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主办单位推荐命中率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同集对照官方历史实际承办单位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94.4%（通用做法 5.6%）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图片隐患类型识别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16 张公开许可图集，不透露期望答案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93.8%（隐患有无一致率 100%）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答复合规审查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10 条违规 + 10 条合规构造集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召回 100%｜误报 0%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办理时限计算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12 条用例（工作日/自然日/临期/超期/办结）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12/12 通过</a:t>
                      </a:r>
                    </a:p>
                  </a:txBody>
                  <a:tcPr marL="64008" marR="64008" marT="27432" marB="27432" anchor="t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流转与权限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主线全链路迁移 + 角色矩阵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C2430"/>
                          </a:solidFill>
                          <a:latin typeface="微软雅黑"/>
                        </a:rPr>
                        <a:t>流转 19/19｜RBAC 12/12</a:t>
                      </a:r>
                    </a:p>
                  </a:txBody>
                  <a:tcPr marL="64008" marR="64008" marT="27432" marB="27432" anchor="t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效率对比：单案五节点全链路 35–70 秒（实测 34.5s / 68.5s，随模型延迟波动）vs 人工工序基准约 20 分钟（8′+4′+8′ 估算）；开启双模型交叉复核时 110–137 秒（可配置关闭）。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66707C"/>
                </a:solidFill>
                <a:latin typeface="微软雅黑"/>
              </a:rPr>
              <a:t>全部命令见末页；每条结论都能在评委机器上重跑复现。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13　系统演示：8 项必展示功能全覆盖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以下功能均已在本地跑通并通过自动化验证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① 录音输入与文本输入（双引擎转写 + 降噪整理）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50008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468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② 群众诉求理解及关键信息提取（时间/地点/人员/事件/诉求）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08376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127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③ 标准化工单生成（标题/摘要/要素/诉求）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66744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785615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④ 事项类别推荐（12 类 + 候选得分 + 置信度）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10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⑤ 承办单位推荐（主办/协办 + 依据链 + 退回风险）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50008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468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⑥ 预回复与回访话术（含政策依据，引用真实性校验）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08376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127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⑦ 人工查看/审核/修改（分节确认、修改后重跑、最终放行）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66744"/>
            <a:ext cx="533095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5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微软雅黑"/>
              </a:rPr>
              <a:t>⑧ 信息不足/职责交叉提示（含图片证据与置信度门控）</a:t>
            </a:r>
          </a:p>
        </p:txBody>
      </p:sp>
      <p:pic>
        <p:nvPicPr>
          <p:cNvPr id="21" name="Picture 20" descr="18_flow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26280"/>
            <a:ext cx="2904819" cy="1417320"/>
          </a:xfrm>
          <a:prstGeom prst="rect">
            <a:avLst/>
          </a:prstGeom>
        </p:spPr>
      </p:pic>
      <p:pic>
        <p:nvPicPr>
          <p:cNvPr id="22" name="Picture 21" descr="17_photo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26280"/>
            <a:ext cx="2360781" cy="1417320"/>
          </a:xfrm>
          <a:prstGeom prst="rect">
            <a:avLst/>
          </a:prstGeom>
        </p:spPr>
      </p:pic>
      <p:pic>
        <p:nvPicPr>
          <p:cNvPr id="23" name="Picture 22" descr="20_wiki_ent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4526280"/>
            <a:ext cx="371639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14　团队、开发计划与在芜落地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创客个人参赛；已完成本地全链路 MVP，按平台要求迁移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49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团队能力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1C2430"/>
                </a:solidFill>
                <a:latin typeface="微软雅黑"/>
              </a:rPr>
              <a:t>王同鹤：创客个人，AI 应用全栈开发背景（LLM 工程 / 语音 / 检索 / 政务合规）。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66707C"/>
                </a:solidFill>
                <a:latin typeface="微软雅黑"/>
              </a:rPr>
              <a:t>已独立完成：五节点链路、双引擎转写、政策 RAG、图片证据、合规审查、时限督办、流转看板、wiki、RBAC 与审计，以及全部自动化验证脚本。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459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5D56"/>
                </a:solidFill>
                <a:latin typeface="微软雅黑"/>
              </a:rPr>
              <a:t>开发计划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1C2430"/>
                </a:solidFill>
                <a:latin typeface="微软雅黑"/>
              </a:rPr>
              <a:t>复赛期：按极智平台能力迁移核心工作流（五节点 + 知识库 + 人工确认节点），本地系统作为外接测试系统。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66707C"/>
                </a:solidFill>
                <a:latin typeface="微软雅黑"/>
              </a:rPr>
              <a:t>发布：智能体发布到应用商店并保持服务开启，评审期内可用。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66707C"/>
                </a:solidFill>
                <a:latin typeface="微软雅黑"/>
              </a:rPr>
              <a:t>在芜落地：与 12345 话务中心试点——以回调方式接入脱敏录音灰度试用，按「建议采纳率 / 人工修改率 / 单案耗时」三项指标评估。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760720"/>
            <a:ext cx="10908792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870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B5D56"/>
                </a:solidFill>
                <a:latin typeface="微软雅黑"/>
              </a:rPr>
              <a:t>合规承诺：智能体不自动派单、不自动向群众发送任何内容；未经人工最终放行不得归档；所有结论标注依据与不确定性。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C2430"/>
                </a:solidFill>
                <a:latin typeface="微软雅黑"/>
              </a:rPr>
              <a:t>15　附：可复现验证命令清单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07C"/>
                </a:solidFill>
                <a:latin typeface="微软雅黑"/>
              </a:rPr>
              <a:t>全部在 backend/ 目录下执行（Python 3.11 venv）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6736"/>
            <a:ext cx="10908792" cy="10972"/>
          </a:xfrm>
          <a:prstGeom prst="rect">
            <a:avLst/>
          </a:prstGeom>
          <a:solidFill>
            <a:srgbClr val="CF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scripts/eval_classify.py            # 分类留一验证 100%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scripts/eval_dispatch.py            # 派单对照：三层决策 94.4% vs 通用 5.6%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scripts/eval_vision.py              # 图片隐患识别（16 张公开许可图集）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scripts/verify_reply_audit.py       # 答复合规：召回 100% / 误报 0%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scripts/verify_deadline.py          # 时限计算 12/12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scripts/verify_pillars.py           # 五支柱服务级验证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scripts/verify_pillars_e2e.py       # 真实链路端到端（含图片证据升级）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scripts/verify_flow.py              # 流转状态机（含角色守卫、非法迁移拒绝）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scripts/verify_rbac.py              # 轻量 RBAC（启用态 12/12）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scripts/verify_wiki.py              # 知识词条（含案件沉淀）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python scripts/verify_cross_check.py       # 双模型交叉复核与分歧统计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C2430"/>
                </a:solidFill>
                <a:latin typeface="微软雅黑"/>
              </a:rPr>
              <a:t>pytest tests -q                            # 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aiwen ｜ 12345 热线工单智能生成与转派辅助智能体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98A1AC"/>
                </a:solidFill>
                <a:latin typeface="微软雅黑"/>
              </a:rPr>
              <a:t>复赛方案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